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2331720"/>
            <a:ext cx="109728" cy="18288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454335" cy="14916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1800" b="1" dirty="0">
                <a:solidFill>
                  <a:srgbClr val="5AD1B0"/>
                </a:solidFill>
                <a:latin typeface="Arial"/>
              </a:rPr>
              <a:t>HEX AI</a:t>
            </a:r>
          </a:p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4000" b="1" dirty="0" err="1">
                <a:solidFill>
                  <a:srgbClr val="F5F7FA"/>
                </a:solidFill>
                <a:latin typeface="Arial"/>
              </a:rPr>
              <a:t>משחק</a:t>
            </a:r>
            <a:r>
              <a:rPr sz="4000" b="1" dirty="0">
                <a:solidFill>
                  <a:srgbClr val="F5F7FA"/>
                </a:solidFill>
                <a:latin typeface="Arial"/>
              </a:rPr>
              <a:t> </a:t>
            </a:r>
            <a:r>
              <a:rPr lang="he-IL" sz="4000" b="1" dirty="0">
                <a:solidFill>
                  <a:srgbClr val="F5F7FA"/>
                </a:solidFill>
                <a:latin typeface="Arial"/>
              </a:rPr>
              <a:t> </a:t>
            </a:r>
            <a:r>
              <a:rPr lang="en-US" sz="40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5F7FA"/>
                </a:solidFill>
                <a:latin typeface="Arial"/>
              </a:rPr>
              <a:t>עם</a:t>
            </a:r>
            <a:r>
              <a:rPr sz="40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5F7FA"/>
                </a:solidFill>
                <a:latin typeface="Arial"/>
              </a:rPr>
              <a:t>סוכן</a:t>
            </a:r>
            <a:r>
              <a:rPr sz="40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5F7FA"/>
                </a:solidFill>
                <a:latin typeface="Arial"/>
              </a:rPr>
              <a:t>בינה</a:t>
            </a:r>
            <a:r>
              <a:rPr sz="40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5F7FA"/>
                </a:solidFill>
                <a:latin typeface="Arial"/>
              </a:rPr>
              <a:t>מלאכותית</a:t>
            </a:r>
            <a:endParaRPr sz="4000" b="1" dirty="0">
              <a:solidFill>
                <a:srgbClr val="F5F7FA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2200" b="0" dirty="0" err="1">
                <a:solidFill>
                  <a:srgbClr val="A9B4C8"/>
                </a:solidFill>
                <a:latin typeface="Arial"/>
              </a:rPr>
              <a:t>מבוסס</a:t>
            </a:r>
            <a:r>
              <a:rPr sz="22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A9B4C8"/>
                </a:solidFill>
                <a:latin typeface="Arial"/>
              </a:rPr>
              <a:t>רשת</a:t>
            </a:r>
            <a:r>
              <a:rPr sz="22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A9B4C8"/>
                </a:solidFill>
                <a:latin typeface="Arial"/>
              </a:rPr>
              <a:t>נוירונים</a:t>
            </a:r>
            <a:endParaRPr sz="220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983480"/>
            <a:ext cx="10454335" cy="6145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800" b="1" dirty="0" err="1">
                <a:solidFill>
                  <a:srgbClr val="F5F7FA"/>
                </a:solidFill>
                <a:latin typeface="Arial"/>
              </a:rPr>
              <a:t>מגיש</a:t>
            </a:r>
            <a:r>
              <a:rPr sz="1800" b="1" dirty="0">
                <a:solidFill>
                  <a:srgbClr val="F5F7FA"/>
                </a:solidFill>
                <a:latin typeface="Arial"/>
              </a:rPr>
              <a:t>: ליאור קוזנץ</a:t>
            </a:r>
          </a:p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500" b="0" dirty="0" err="1">
                <a:solidFill>
                  <a:srgbClr val="A9B4C8"/>
                </a:solidFill>
                <a:latin typeface="Arial"/>
              </a:rPr>
              <a:t>מקצוע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: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הנדסת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תוכנה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lang="en-IL" sz="1500" b="0" dirty="0">
                <a:solidFill>
                  <a:srgbClr val="A9B4C8"/>
                </a:solidFill>
                <a:latin typeface="Arial"/>
              </a:rPr>
              <a:t>|</a:t>
            </a:r>
            <a:r>
              <a:rPr lang="he-IL"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חלופת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למידת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מכונה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ולמידה</a:t>
            </a:r>
            <a:r>
              <a:rPr sz="15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A9B4C8"/>
                </a:solidFill>
                <a:latin typeface="Arial"/>
              </a:rPr>
              <a:t>עמוקה</a:t>
            </a:r>
            <a:endParaRPr sz="150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9B4C8"/>
                </a:solidFill>
                <a:latin typeface="Arial"/>
              </a:rPr>
              <a:t>Python  |  PyTorch  |  PySide6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50292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454335" cy="7581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 dirty="0" err="1">
                <a:solidFill>
                  <a:srgbClr val="5AD1B0"/>
                </a:solidFill>
                <a:latin typeface="Arial"/>
              </a:rPr>
              <a:t>נושא</a:t>
            </a:r>
            <a:r>
              <a:rPr sz="1400" b="1" dirty="0">
                <a:solidFill>
                  <a:srgbClr val="5AD1B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5AD1B0"/>
                </a:solidFill>
                <a:latin typeface="Arial"/>
              </a:rPr>
              <a:t>הפרויקט</a:t>
            </a:r>
            <a:endParaRPr sz="1400" b="1" dirty="0">
              <a:solidFill>
                <a:srgbClr val="5AD1B0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 dirty="0" err="1">
                <a:solidFill>
                  <a:srgbClr val="F5F7FA"/>
                </a:solidFill>
                <a:latin typeface="Arial"/>
              </a:rPr>
              <a:t>מהוHex</a:t>
            </a:r>
            <a:r>
              <a:rPr sz="3000" b="1" dirty="0">
                <a:solidFill>
                  <a:srgbClr val="F5F7FA"/>
                </a:solidFill>
                <a:latin typeface="Arial"/>
              </a:rPr>
              <a:t> </a:t>
            </a:r>
            <a:r>
              <a:rPr lang="he-IL" sz="30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7FA"/>
                </a:solidFill>
                <a:latin typeface="Arial"/>
              </a:rPr>
              <a:t>ומהי</a:t>
            </a:r>
            <a:r>
              <a:rPr sz="30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7FA"/>
                </a:solidFill>
                <a:latin typeface="Arial"/>
              </a:rPr>
              <a:t>המטרה</a:t>
            </a:r>
            <a:endParaRPr sz="30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658368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משחק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לוח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אסטרטגי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לשני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שחקנים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על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לוח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משושים</a:t>
            </a:r>
            <a:r>
              <a:rPr sz="1800" dirty="0">
                <a:solidFill>
                  <a:srgbClr val="F5F7FA"/>
                </a:solidFill>
                <a:latin typeface="Arial"/>
              </a:rPr>
              <a:t> 7x7</a:t>
            </a: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b="1" dirty="0" err="1">
                <a:solidFill>
                  <a:srgbClr val="E54B4B"/>
                </a:solidFill>
                <a:latin typeface="Arial"/>
              </a:rPr>
              <a:t>אדום</a:t>
            </a:r>
            <a:r>
              <a:rPr sz="1800" b="1" dirty="0">
                <a:solidFill>
                  <a:srgbClr val="E54B4B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5F7FA"/>
                </a:solidFill>
                <a:latin typeface="Arial"/>
              </a:rPr>
              <a:t>מחבר</a:t>
            </a:r>
            <a:r>
              <a:rPr sz="18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5F7FA"/>
                </a:solidFill>
                <a:latin typeface="Arial"/>
              </a:rPr>
              <a:t>עליון</a:t>
            </a:r>
            <a:r>
              <a:rPr sz="18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5F7FA"/>
                </a:solidFill>
                <a:latin typeface="Arial"/>
              </a:rPr>
              <a:t>לתחתון</a:t>
            </a:r>
            <a:r>
              <a:rPr sz="1800" b="0" dirty="0">
                <a:solidFill>
                  <a:srgbClr val="F5F7FA"/>
                </a:solidFill>
                <a:latin typeface="Arial"/>
              </a:rPr>
              <a:t>, </a:t>
            </a:r>
            <a:r>
              <a:rPr sz="1800" b="1" dirty="0" err="1">
                <a:solidFill>
                  <a:srgbClr val="4B8BE5"/>
                </a:solidFill>
                <a:latin typeface="Arial"/>
              </a:rPr>
              <a:t>כחול</a:t>
            </a:r>
            <a:r>
              <a:rPr sz="1800" b="1" dirty="0">
                <a:solidFill>
                  <a:srgbClr val="4B8BE5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5F7FA"/>
                </a:solidFill>
                <a:latin typeface="Arial"/>
              </a:rPr>
              <a:t>מחבר</a:t>
            </a:r>
            <a:r>
              <a:rPr sz="18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5F7FA"/>
                </a:solidFill>
                <a:latin typeface="Arial"/>
              </a:rPr>
              <a:t>שמאל</a:t>
            </a:r>
            <a:r>
              <a:rPr sz="18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5F7FA"/>
                </a:solidFill>
                <a:latin typeface="Arial"/>
              </a:rPr>
              <a:t>לימין</a:t>
            </a:r>
            <a:endParaRPr sz="1800" b="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בכל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תור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מניחים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אבן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אחת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בתא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ריק</a:t>
            </a:r>
            <a:r>
              <a:rPr sz="1800" dirty="0">
                <a:solidFill>
                  <a:srgbClr val="F5F7FA"/>
                </a:solidFill>
                <a:latin typeface="Arial"/>
              </a:rPr>
              <a:t>.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אדום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מתחיל</a:t>
            </a:r>
            <a:endParaRPr sz="180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אין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תיקו</a:t>
            </a:r>
            <a:r>
              <a:rPr sz="1800" dirty="0">
                <a:solidFill>
                  <a:srgbClr val="F5F7FA"/>
                </a:solidFill>
                <a:latin typeface="Arial"/>
              </a:rPr>
              <a:t> -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תמיד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יש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מנצח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lang="he-IL" sz="1800" dirty="0">
                <a:solidFill>
                  <a:srgbClr val="F5F7FA"/>
                </a:solidFill>
                <a:latin typeface="Arial"/>
              </a:rPr>
              <a:t>(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תכונה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מתמטית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מוכחת</a:t>
            </a:r>
            <a:r>
              <a:rPr lang="he-IL" sz="1800" dirty="0">
                <a:solidFill>
                  <a:srgbClr val="F5F7FA"/>
                </a:solidFill>
                <a:latin typeface="Arial"/>
              </a:rPr>
              <a:t>)</a:t>
            </a:r>
            <a:endParaRPr sz="180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המטרה</a:t>
            </a:r>
            <a:r>
              <a:rPr sz="1800" dirty="0">
                <a:solidFill>
                  <a:srgbClr val="F5F7FA"/>
                </a:solidFill>
                <a:latin typeface="Arial"/>
              </a:rPr>
              <a:t>: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סוכן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A</a:t>
            </a:r>
            <a:r>
              <a:rPr lang="en-US" sz="1800" dirty="0">
                <a:solidFill>
                  <a:srgbClr val="F5F7FA"/>
                </a:solidFill>
                <a:latin typeface="Arial"/>
              </a:rPr>
              <a:t>i</a:t>
            </a:r>
            <a:r>
              <a:rPr lang="he-IL"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המשחק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ברמה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גבוהה</a:t>
            </a:r>
            <a:r>
              <a:rPr sz="1800" dirty="0">
                <a:solidFill>
                  <a:srgbClr val="F5F7FA"/>
                </a:solidFill>
                <a:latin typeface="Arial"/>
              </a:rPr>
              <a:t> מ-Greedy,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באמצעות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למידת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מכונה</a:t>
            </a:r>
            <a:endParaRPr sz="1800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51560" y="1778508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" y="2036826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5AD1B0"/>
                </a:solidFill>
                <a:latin typeface="Arial"/>
              </a:rPr>
              <a:t>לוח</a:t>
            </a:r>
            <a:r>
              <a:rPr sz="1600" b="1" dirty="0">
                <a:solidFill>
                  <a:srgbClr val="5AD1B0"/>
                </a:solidFill>
                <a:latin typeface="Arial"/>
              </a:rPr>
              <a:t> 7x7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743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45920" y="2743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148840" y="2743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2743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54680" y="274320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94460" y="324612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97380" y="324612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00300" y="324612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03220" y="324612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06140" y="324612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45920" y="37490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148840" y="37490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60" y="37490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54680" y="37490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57600" y="374904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897380" y="425196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00300" y="425196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03220" y="425196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406140" y="425196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909060" y="425196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148840" y="475488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651760" y="475488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54680" y="475488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57600" y="475488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60520" y="475488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 w="1270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A9B4C8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50292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454335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D1B0"/>
                </a:solidFill>
                <a:latin typeface="Arial"/>
              </a:rPr>
              <a:t>מבנה המערכת</a:t>
            </a: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חלקי הפרויקט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5455" y="1783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414455" y="2011680"/>
            <a:ext cx="73152" cy="132588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68335" y="1947672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700" b="1" dirty="0" err="1">
                <a:solidFill>
                  <a:srgbClr val="F5F7FA"/>
                </a:solidFill>
                <a:latin typeface="Arial"/>
              </a:rPr>
              <a:t>מנוע</a:t>
            </a:r>
            <a:r>
              <a:rPr sz="17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Arial"/>
              </a:rPr>
              <a:t>המשחק</a:t>
            </a:r>
            <a:endParaRPr sz="17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68335" y="2496312"/>
            <a:ext cx="3108960" cy="478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board.py</a:t>
            </a:r>
            <a:r>
              <a:rPr lang="en-IL"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- ל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וח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חוקים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וזיהוי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ניצחון</a:t>
            </a:r>
            <a:endParaRPr sz="1250" b="0" dirty="0">
              <a:solidFill>
                <a:srgbClr val="A9B4C8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game.py 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lang="en-IL" sz="1250" dirty="0">
                <a:solidFill>
                  <a:srgbClr val="A9B4C8"/>
                </a:solidFill>
                <a:latin typeface="Arial"/>
              </a:rPr>
              <a:t>- 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נ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הול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משחק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בודד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00423" y="1783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29423" y="2011680"/>
            <a:ext cx="73152" cy="1325880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3303" y="1947672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איסוף נתונים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3303" y="2496312"/>
            <a:ext cx="3108960" cy="478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Tournament.py 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-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אלפי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משחקים</a:t>
            </a:r>
            <a:endParaRPr sz="1250" b="0" dirty="0">
              <a:solidFill>
                <a:srgbClr val="A9B4C8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DatabaseHandler.py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-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מירה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וטעינה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" y="1783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44391" y="2011680"/>
            <a:ext cx="73152" cy="1325880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271" y="1947672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הסוכנים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" y="2496312"/>
            <a:ext cx="310896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A9B4C8"/>
                </a:solidFill>
                <a:latin typeface="Arial"/>
              </a:rPr>
              <a:t>player.py - Random, Greedy,</a:t>
            </a:r>
          </a:p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A9B4C8"/>
                </a:solidFill>
                <a:latin typeface="Arial"/>
              </a:rPr>
              <a:t>Heuristic, Neural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5455" y="3767328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414455" y="3995928"/>
            <a:ext cx="73152" cy="132588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8335" y="3931920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מודל הלמידה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0423" y="3767328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29423" y="3995928"/>
            <a:ext cx="73152" cy="1325880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3303" y="3931920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ממשק MVC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3303" y="4480560"/>
            <a:ext cx="3108960" cy="478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ui.py / controller.py</a:t>
            </a:r>
          </a:p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PySide6 - View 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מופרד</a:t>
            </a:r>
            <a:r>
              <a:rPr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מModel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5391" y="3767328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44391" y="3995928"/>
            <a:ext cx="73152" cy="1325880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271" y="3931920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נקודת כניסה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" y="4480560"/>
            <a:ext cx="3108960" cy="478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main.py 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– </a:t>
            </a:r>
            <a:r>
              <a:rPr sz="1250" b="0" dirty="0" err="1">
                <a:solidFill>
                  <a:srgbClr val="A9B4C8"/>
                </a:solidFill>
                <a:latin typeface="Arial"/>
              </a:rPr>
              <a:t>מצבי</a:t>
            </a:r>
            <a:endParaRPr lang="he-IL" sz="1250" b="0" dirty="0">
              <a:solidFill>
                <a:srgbClr val="A9B4C8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A9B4C8"/>
                </a:solidFill>
                <a:latin typeface="Arial"/>
              </a:rPr>
              <a:t> TRAIN /TOURNAMENT / PLA</a:t>
            </a:r>
            <a:r>
              <a:rPr lang="en-US" sz="1250" b="0" dirty="0">
                <a:solidFill>
                  <a:srgbClr val="A9B4C8"/>
                </a:solidFill>
                <a:latin typeface="Arial"/>
              </a:rPr>
              <a:t>Y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9B4C8"/>
                </a:solidFill>
                <a:latin typeface="Arial"/>
              </a:rPr>
              <a:t>3 / 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5F2AAF-5EAA-E6D8-2CD2-1896656A1BE3}"/>
              </a:ext>
            </a:extLst>
          </p:cNvPr>
          <p:cNvSpPr txBox="1"/>
          <p:nvPr/>
        </p:nvSpPr>
        <p:spPr>
          <a:xfrm>
            <a:off x="8168335" y="4480560"/>
            <a:ext cx="3108960" cy="4785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</a:pPr>
            <a:r>
              <a:rPr lang="en-US" sz="1250" dirty="0">
                <a:solidFill>
                  <a:srgbClr val="A9B4C8"/>
                </a:solidFill>
                <a:latin typeface="Arial"/>
              </a:rPr>
              <a:t>AiManager.py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– </a:t>
            </a:r>
            <a:r>
              <a:rPr lang="en-US" sz="1250" dirty="0" err="1">
                <a:solidFill>
                  <a:srgbClr val="A9B4C8"/>
                </a:solidFill>
                <a:latin typeface="Arial"/>
              </a:rPr>
              <a:t>HexNet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+ אימון</a:t>
            </a:r>
          </a:p>
          <a:p>
            <a:pPr algn="r" rtl="1">
              <a:spcAft>
                <a:spcPts val="300"/>
              </a:spcAft>
            </a:pPr>
            <a:r>
              <a:rPr lang="en-US" sz="1250" dirty="0">
                <a:solidFill>
                  <a:srgbClr val="A9B4C8"/>
                </a:solidFill>
                <a:latin typeface="Arial"/>
              </a:rPr>
              <a:t>hex_model_v4.pth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50292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454335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D1B0"/>
                </a:solidFill>
                <a:latin typeface="Arial"/>
              </a:rPr>
              <a:t>שלב איסוף נתונים</a:t>
            </a: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בניית מסד הנתונים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783080"/>
            <a:ext cx="6675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מילוןPython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 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lang="he-IL" sz="1600" b="0" dirty="0" err="1">
                <a:solidFill>
                  <a:srgbClr val="A9B4C8"/>
                </a:solidFill>
                <a:latin typeface="Arial"/>
              </a:rPr>
              <a:t>הנ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שמר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כ-</a:t>
            </a:r>
            <a:r>
              <a:rPr lang="en-US" sz="1600" b="0" dirty="0">
                <a:solidFill>
                  <a:srgbClr val="A9B4C8"/>
                </a:solidFill>
                <a:latin typeface="Arial"/>
              </a:rPr>
              <a:t>JSON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:</a:t>
            </a:r>
          </a:p>
          <a:p>
            <a:pPr algn="r" rtl="1">
              <a:spcAft>
                <a:spcPts val="1200"/>
              </a:spcAft>
            </a:pPr>
            <a:r>
              <a:rPr lang="en-IL"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מפתח</a:t>
            </a:r>
            <a:r>
              <a:rPr lang="en-IL" sz="1600" b="0" dirty="0">
                <a:solidFill>
                  <a:srgbClr val="A9B4C8"/>
                </a:solidFill>
                <a:latin typeface="Arial"/>
              </a:rPr>
              <a:t>=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מ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צב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לוח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(49 ערכים)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ערך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= 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[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avg_score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, count]</a:t>
            </a: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ממוצע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זז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-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כל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מצב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לוח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נשמר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פעם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אחת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, ה-score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מתעדכן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ממשחקים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רבים</a:t>
            </a:r>
            <a:endParaRPr sz="16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ה-score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מחושב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מנקודת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מבט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אדום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:</a:t>
            </a:r>
          </a:p>
          <a:p>
            <a:pPr algn="r" rtl="1">
              <a:spcAft>
                <a:spcPts val="1200"/>
              </a:spcAft>
            </a:pPr>
            <a:r>
              <a:rPr lang="he-IL" sz="1600" dirty="0">
                <a:solidFill>
                  <a:srgbClr val="A9B4C8"/>
                </a:solidFill>
                <a:latin typeface="Arial"/>
              </a:rPr>
              <a:t>ניצחון = 1, הפסד = 1-, דעיכה עם </a:t>
            </a:r>
            <a:r>
              <a:rPr lang="en-US" sz="1600" dirty="0">
                <a:solidFill>
                  <a:srgbClr val="A9B4C8"/>
                </a:solidFill>
                <a:latin typeface="Arial"/>
              </a:rPr>
              <a:t>gamma^(N-</a:t>
            </a:r>
            <a:r>
              <a:rPr lang="en-US" sz="1600" dirty="0" err="1">
                <a:solidFill>
                  <a:srgbClr val="A9B4C8"/>
                </a:solidFill>
                <a:latin typeface="Arial"/>
              </a:rPr>
              <a:t>i</a:t>
            </a:r>
            <a:r>
              <a:rPr lang="en-US" sz="1600" dirty="0">
                <a:solidFill>
                  <a:srgbClr val="A9B4C8"/>
                </a:solidFill>
                <a:latin typeface="Arial"/>
              </a:rPr>
              <a:t>)</a:t>
            </a:r>
            <a:r>
              <a:rPr lang="he-IL" sz="1600" dirty="0">
                <a:solidFill>
                  <a:srgbClr val="A9B4C8"/>
                </a:solidFill>
                <a:latin typeface="Arial"/>
              </a:rPr>
              <a:t> לפי מרחק מסוף המשחק.</a:t>
            </a:r>
            <a:endParaRPr lang="he-IL" sz="160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93815" y="402336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14455" y="4251960"/>
            <a:ext cx="73152" cy="1828800"/>
          </a:xfrm>
          <a:prstGeom prst="roundRect">
            <a:avLst>
              <a:gd name="adj" fmla="val 6000"/>
            </a:avLst>
          </a:prstGeom>
          <a:solidFill>
            <a:srgbClr val="4B8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22415" y="4160520"/>
            <a:ext cx="47548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F5F7FA"/>
                </a:solidFill>
                <a:latin typeface="Arial"/>
              </a:rPr>
              <a:t>שלב 1: 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Random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 מול 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Random</a:t>
            </a:r>
            <a:endParaRPr sz="16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22415" y="4709160"/>
            <a:ext cx="475488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4C8"/>
                </a:solidFill>
                <a:latin typeface="Arial"/>
              </a:rPr>
              <a:t>100,000 משחקים  -&gt;  3,871,257 לוחות ייחודיים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4C8"/>
                </a:solidFill>
                <a:latin typeface="Arial"/>
              </a:rPr>
              <a:t>ממוצע ~42.3 מהלכים למשחק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4C8"/>
                </a:solidFill>
                <a:latin typeface="Arial"/>
              </a:rPr>
              <a:t>רעש גבוה, כל משחק כמעט ייחודי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2336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06440" y="4251960"/>
            <a:ext cx="73152" cy="1828800"/>
          </a:xfrm>
          <a:prstGeom prst="roundRect">
            <a:avLst>
              <a:gd name="adj" fmla="val 6000"/>
            </a:avLst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7548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F5F7FA"/>
                </a:solidFill>
                <a:latin typeface="Arial"/>
              </a:rPr>
              <a:t>שלב 2: 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Heuristic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 מול 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Heuristic</a:t>
            </a:r>
            <a:endParaRPr sz="16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75488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A9B4C8"/>
                </a:solidFill>
                <a:latin typeface="Arial"/>
              </a:rPr>
              <a:t>100,000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משחקים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 -&gt;  1,130,392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לוחות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ייחודיים</a:t>
            </a:r>
            <a:endParaRPr sz="14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A9B4C8"/>
                </a:solidFill>
                <a:latin typeface="Arial"/>
              </a:rPr>
              <a:t>ממוצע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~21.6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מהלכים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למשחק</a:t>
            </a:r>
            <a:endParaRPr sz="14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A9B4C8"/>
                </a:solidFill>
                <a:latin typeface="Arial"/>
              </a:rPr>
              <a:t>שחקנים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חזקים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-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איכות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מידע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גבוהה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האימון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נעשה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על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מילון</a:t>
            </a:r>
            <a:r>
              <a:rPr sz="14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A9B4C8"/>
                </a:solidFill>
                <a:latin typeface="Arial"/>
              </a:rPr>
              <a:t>זה</a:t>
            </a:r>
            <a:endParaRPr sz="140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9B4C8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50292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454335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D1B0"/>
                </a:solidFill>
                <a:latin typeface="Arial"/>
              </a:rPr>
              <a:t>המודל הלומד</a:t>
            </a: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הרשת HexNet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28455" y="1920240"/>
            <a:ext cx="224028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A9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28455" y="2148840"/>
            <a:ext cx="2240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2697480"/>
            <a:ext cx="2240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A9B4C8"/>
                </a:solidFill>
                <a:latin typeface="Arial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1255" y="233172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A9B4C8"/>
                </a:solidFill>
                <a:latin typeface="Arial"/>
              </a:rPr>
              <a:t>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5255" y="1920240"/>
            <a:ext cx="224028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5AD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5255" y="2148840"/>
            <a:ext cx="2240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2697480"/>
            <a:ext cx="224028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lang="he-IL" sz="1500" b="1" dirty="0">
                <a:solidFill>
                  <a:srgbClr val="5AD1B0"/>
                </a:solidFill>
                <a:latin typeface="Arial"/>
              </a:rPr>
              <a:t>49 -&gt; 128</a:t>
            </a:r>
            <a:endParaRPr sz="1500" b="1" dirty="0">
              <a:solidFill>
                <a:srgbClr val="5AD1B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28055" y="233172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A9B4C8"/>
                </a:solidFill>
                <a:latin typeface="Arial"/>
              </a:rP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2055" y="1920240"/>
            <a:ext cx="224028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5AD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2055" y="2148840"/>
            <a:ext cx="2240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055" y="2697480"/>
            <a:ext cx="224028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lang="he-IL" sz="1500" b="1" dirty="0">
                <a:solidFill>
                  <a:srgbClr val="5AD1B0"/>
                </a:solidFill>
                <a:latin typeface="Arial"/>
              </a:rPr>
              <a:t>128 -&gt; 64</a:t>
            </a:r>
            <a:endParaRPr sz="1500" b="1" dirty="0">
              <a:solidFill>
                <a:srgbClr val="5AD1B0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84855" y="233172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dirty="0">
                <a:solidFill>
                  <a:srgbClr val="A9B4C8"/>
                </a:solidFill>
                <a:latin typeface="Arial"/>
              </a:rPr>
              <a:t>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" y="1920240"/>
            <a:ext cx="224028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4B8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" y="2148840"/>
            <a:ext cx="2240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" y="2697480"/>
            <a:ext cx="224028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lang="he-IL" sz="1500" b="1" dirty="0">
                <a:solidFill>
                  <a:srgbClr val="4B8BE5"/>
                </a:solidFill>
                <a:latin typeface="Arial"/>
              </a:rPr>
              <a:t>64 -&gt;1</a:t>
            </a:r>
            <a:endParaRPr sz="1500" b="1" dirty="0">
              <a:solidFill>
                <a:srgbClr val="4B8BE5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4577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קלט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(49):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מצב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הלוח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המנורמל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, 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פלט</a:t>
            </a:r>
            <a:r>
              <a:rPr lang="he-IL" sz="1600" dirty="0">
                <a:solidFill>
                  <a:srgbClr val="A9B4C8"/>
                </a:solidFill>
                <a:latin typeface="Arial"/>
              </a:rPr>
              <a:t>(1):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הערכת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איכות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המצב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לאדום</a:t>
            </a:r>
            <a:endParaRPr sz="16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שכבת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Linear 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: 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כ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ל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נוירון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מחובר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לכל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נוירון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עם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משקלות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ו-bias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נלמדים</a:t>
            </a:r>
            <a:endParaRPr lang="he-IL" sz="16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Aft>
                <a:spcPts val="1200"/>
              </a:spcAft>
            </a:pPr>
            <a:r>
              <a:rPr lang="he-IL"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lang="he-IL" sz="1600" b="1" dirty="0" err="1">
                <a:solidFill>
                  <a:srgbClr val="F5F7FA"/>
                </a:solidFill>
                <a:latin typeface="Arial"/>
              </a:rPr>
              <a:t>פונקצית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 </a:t>
            </a:r>
            <a:r>
              <a:rPr lang="en-US" sz="1600" b="1" dirty="0" err="1">
                <a:solidFill>
                  <a:srgbClr val="F5F7FA"/>
                </a:solidFill>
                <a:latin typeface="Arial"/>
              </a:rPr>
              <a:t>LeakyReLU</a:t>
            </a:r>
            <a:r>
              <a:rPr lang="en-US" sz="1600" b="1" dirty="0">
                <a:solidFill>
                  <a:srgbClr val="F5F7FA"/>
                </a:solidFill>
                <a:latin typeface="Arial"/>
              </a:rPr>
              <a:t> 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: </a:t>
            </a:r>
            <a:r>
              <a:rPr lang="en-US" sz="1600" dirty="0">
                <a:solidFill>
                  <a:srgbClr val="A9B4C8"/>
                </a:solidFill>
                <a:latin typeface="Arial"/>
              </a:rPr>
              <a:t>max(0.01x, x)</a:t>
            </a:r>
            <a:r>
              <a:rPr lang="he-IL" sz="1600" dirty="0">
                <a:solidFill>
                  <a:srgbClr val="A9B4C8"/>
                </a:solidFill>
                <a:latin typeface="Arial"/>
              </a:rPr>
              <a:t>, מונע מות נוירונים שליליים בניגוד ל - </a:t>
            </a:r>
            <a:r>
              <a:rPr lang="en-US" sz="1600" dirty="0" err="1">
                <a:solidFill>
                  <a:srgbClr val="A9B4C8"/>
                </a:solidFill>
                <a:latin typeface="Arial"/>
              </a:rPr>
              <a:t>ReLU</a:t>
            </a:r>
            <a:endParaRPr sz="16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Aft>
                <a:spcPts val="1200"/>
              </a:spcAft>
            </a:pPr>
            <a:r>
              <a:rPr lang="he-IL" sz="1600" dirty="0">
                <a:solidFill>
                  <a:srgbClr val="5AD1B0"/>
                </a:solidFill>
                <a:latin typeface="Arial"/>
              </a:rPr>
              <a:t>▸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1- = </a:t>
            </a:r>
            <a:r>
              <a:rPr lang="he-IL" sz="1600" b="1" dirty="0">
                <a:solidFill>
                  <a:srgbClr val="4B8BE5"/>
                </a:solidFill>
                <a:latin typeface="Arial"/>
              </a:rPr>
              <a:t>כחול מנצח בוודאות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 , 1+ = </a:t>
            </a:r>
            <a:r>
              <a:rPr lang="he-IL" sz="1600" b="1" dirty="0">
                <a:solidFill>
                  <a:srgbClr val="E54B4B"/>
                </a:solidFill>
                <a:latin typeface="Arial"/>
              </a:rPr>
              <a:t>אדום מנצח בוודאות</a:t>
            </a:r>
            <a:endParaRPr lang="en-US" sz="1600" dirty="0">
              <a:solidFill>
                <a:srgbClr val="5AD1B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9B4C8"/>
                </a:solidFill>
                <a:latin typeface="Arial"/>
              </a:rPr>
              <a:t>5 / 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911A9E-F7CF-81EB-828F-258A6FC0E702}"/>
              </a:ext>
            </a:extLst>
          </p:cNvPr>
          <p:cNvSpPr txBox="1"/>
          <p:nvPr/>
        </p:nvSpPr>
        <p:spPr>
          <a:xfrm>
            <a:off x="822959" y="3493139"/>
            <a:ext cx="10545775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A9B4C8"/>
                </a:solidFill>
                <a:latin typeface="Arial"/>
              </a:rPr>
              <a:t>אחרי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כל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שכבת</a:t>
            </a:r>
            <a:r>
              <a:rPr sz="1600" b="0" dirty="0">
                <a:solidFill>
                  <a:srgbClr val="A9B4C8"/>
                </a:solidFill>
                <a:latin typeface="Arial"/>
              </a:rPr>
              <a:t> Linear 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9B4C8"/>
                </a:solidFill>
                <a:latin typeface="Arial"/>
              </a:rPr>
              <a:t>בפנים</a:t>
            </a:r>
            <a:r>
              <a:rPr lang="he-IL" sz="1600" b="0" dirty="0">
                <a:solidFill>
                  <a:srgbClr val="A9B4C8"/>
                </a:solidFill>
                <a:latin typeface="Arial"/>
              </a:rPr>
              <a:t>: </a:t>
            </a:r>
            <a:r>
              <a:rPr lang="en-US" sz="1600" b="1" dirty="0" err="1">
                <a:solidFill>
                  <a:srgbClr val="5AD1B0"/>
                </a:solidFill>
                <a:latin typeface="Arial"/>
              </a:rPr>
              <a:t>LeakyReLU</a:t>
            </a:r>
            <a:r>
              <a:rPr lang="en-US" sz="1600" b="1" dirty="0">
                <a:solidFill>
                  <a:srgbClr val="5AD1B0"/>
                </a:solidFill>
                <a:latin typeface="Arial"/>
              </a:rPr>
              <a:t>(0.01)</a:t>
            </a:r>
            <a:r>
              <a:rPr lang="he-IL" sz="1600" b="1" dirty="0">
                <a:solidFill>
                  <a:srgbClr val="5AD1B0"/>
                </a:solidFill>
                <a:latin typeface="Arial"/>
              </a:rPr>
              <a:t> | </a:t>
            </a:r>
            <a:r>
              <a:rPr lang="he-IL" sz="1600" dirty="0">
                <a:solidFill>
                  <a:srgbClr val="A9B4C8"/>
                </a:solidFill>
                <a:latin typeface="Arial"/>
              </a:rPr>
              <a:t>בשכבת הפלט:</a:t>
            </a:r>
            <a:r>
              <a:rPr lang="he-IL" sz="1600" b="1" dirty="0">
                <a:solidFill>
                  <a:srgbClr val="5AD1B0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4B8BE5"/>
                </a:solidFill>
                <a:latin typeface="Arial"/>
              </a:rPr>
              <a:t>tanh</a:t>
            </a:r>
            <a:r>
              <a:rPr lang="he-IL" sz="1600" b="1" dirty="0">
                <a:solidFill>
                  <a:srgbClr val="4B8BE5"/>
                </a:solidFill>
                <a:latin typeface="Arial"/>
              </a:rPr>
              <a:t> -&gt; טווח[1-,1]</a:t>
            </a:r>
            <a:endParaRPr sz="1600" b="1" dirty="0">
              <a:solidFill>
                <a:srgbClr val="4B8BE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50292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454335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D1B0"/>
                </a:solidFill>
                <a:latin typeface="Arial"/>
              </a:rPr>
              <a:t>תהליך האימון</a:t>
            </a: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איך אימנתי את המודל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5455" y="17830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14055" y="1947672"/>
            <a:ext cx="3063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5AD1B0"/>
                </a:solidFill>
                <a:latin typeface="Arial"/>
              </a:rPr>
              <a:t>1.</a:t>
            </a:r>
            <a:r>
              <a:rPr sz="1600" b="1" dirty="0">
                <a:solidFill>
                  <a:srgbClr val="5AD1B0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טעינה</a:t>
            </a:r>
            <a:endParaRPr sz="16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00423" y="17830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9023" y="1947672"/>
            <a:ext cx="3063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5AD1B0"/>
                </a:solidFill>
                <a:latin typeface="Arial"/>
              </a:rPr>
              <a:t>2.</a:t>
            </a:r>
            <a:r>
              <a:rPr sz="1600" b="1" dirty="0">
                <a:solidFill>
                  <a:srgbClr val="5AD1B0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חלוקה</a:t>
            </a:r>
            <a:endParaRPr sz="16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5391" y="17830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" y="1947672"/>
            <a:ext cx="3063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5AD1B0"/>
                </a:solidFill>
                <a:latin typeface="Arial"/>
              </a:rPr>
              <a:t>3. 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" y="2441448"/>
            <a:ext cx="3063240" cy="24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en-US" sz="1250" b="0" dirty="0" err="1">
                <a:solidFill>
                  <a:srgbClr val="A9B4C8"/>
                </a:solidFill>
                <a:latin typeface="Arial"/>
              </a:rPr>
              <a:t>MSEL</a:t>
            </a:r>
            <a:r>
              <a:rPr lang="en-US" sz="1250" dirty="0" err="1">
                <a:solidFill>
                  <a:srgbClr val="A9B4C8"/>
                </a:solidFill>
                <a:latin typeface="Arial"/>
              </a:rPr>
              <a:t>oss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– בעיית </a:t>
            </a:r>
            <a:r>
              <a:rPr lang="en-US" sz="1250" dirty="0">
                <a:solidFill>
                  <a:srgbClr val="A9B4C8"/>
                </a:solidFill>
                <a:latin typeface="Arial"/>
              </a:rPr>
              <a:t>regression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על גרף רציף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5455" y="32004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4055" y="3364992"/>
            <a:ext cx="3063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5AD1B0"/>
                </a:solidFill>
                <a:latin typeface="Arial"/>
              </a:rPr>
              <a:t>4. 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055" y="3858768"/>
            <a:ext cx="30632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9B4C8"/>
                </a:solidFill>
                <a:latin typeface="Arial"/>
              </a:rPr>
              <a:t>AdamW (lr=0.001, weight_decay=0.01)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0423" y="32004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9023" y="3364992"/>
            <a:ext cx="3063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5AD1B0"/>
                </a:solidFill>
                <a:latin typeface="Arial"/>
              </a:rPr>
              <a:t>5. 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023" y="3858768"/>
            <a:ext cx="306324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en-US" sz="1250" dirty="0" err="1">
                <a:solidFill>
                  <a:srgbClr val="A9B4C8"/>
                </a:solidFill>
                <a:latin typeface="Arial"/>
              </a:rPr>
              <a:t>ReduceLROnPlateau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– מקטין </a:t>
            </a:r>
            <a:r>
              <a:rPr lang="en-US" sz="1250" dirty="0" err="1">
                <a:solidFill>
                  <a:srgbClr val="A9B4C8"/>
                </a:solidFill>
                <a:latin typeface="Arial"/>
              </a:rPr>
              <a:t>lr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כשהלמידה לא מתקדמת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5391" y="32004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991" y="3364992"/>
            <a:ext cx="3063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5AD1B0"/>
                </a:solidFill>
                <a:latin typeface="Arial"/>
              </a:rPr>
              <a:t>6. </a:t>
            </a:r>
            <a:r>
              <a:rPr sz="1600" b="1" dirty="0">
                <a:solidFill>
                  <a:srgbClr val="F5F7FA"/>
                </a:solidFill>
                <a:latin typeface="Arial"/>
              </a:rPr>
              <a:t>Early stopping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" y="3858768"/>
            <a:ext cx="3063240" cy="24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en-US" sz="1250" dirty="0">
                <a:solidFill>
                  <a:srgbClr val="A9B4C8"/>
                </a:solidFill>
                <a:latin typeface="Arial"/>
              </a:rPr>
              <a:t>Patience = 15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, עוצר כשהמודל הכי טוב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10820095" cy="96012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5AD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747069"/>
            <a:ext cx="10362895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5AD1B0"/>
                </a:solidFill>
                <a:latin typeface="Arial"/>
              </a:rPr>
              <a:t>תוצאה</a:t>
            </a:r>
            <a:r>
              <a:rPr sz="1600" b="1" dirty="0">
                <a:solidFill>
                  <a:srgbClr val="5AD1B0"/>
                </a:solidFill>
                <a:latin typeface="Arial"/>
              </a:rPr>
              <a:t>: </a:t>
            </a:r>
            <a:r>
              <a:rPr sz="1600" b="0" dirty="0" err="1">
                <a:solidFill>
                  <a:srgbClr val="F5F7FA"/>
                </a:solidFill>
                <a:latin typeface="Arial"/>
              </a:rPr>
              <a:t>המודל</a:t>
            </a:r>
            <a:r>
              <a:rPr sz="16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</a:rPr>
              <a:t>התייצב</a:t>
            </a:r>
            <a:r>
              <a:rPr sz="1600" b="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</a:rPr>
              <a:t>סביבepoch</a:t>
            </a:r>
            <a:r>
              <a:rPr sz="1600" b="0" dirty="0">
                <a:solidFill>
                  <a:srgbClr val="F5F7FA"/>
                </a:solidFill>
                <a:latin typeface="Arial"/>
              </a:rPr>
              <a:t> 225 </a:t>
            </a:r>
            <a:r>
              <a:rPr lang="he-IL" sz="1600" b="0" dirty="0">
                <a:solidFill>
                  <a:srgbClr val="F5F7FA"/>
                </a:solidFill>
                <a:latin typeface="Arial"/>
              </a:rPr>
              <a:t> ע</a:t>
            </a:r>
            <a:r>
              <a:rPr sz="1600" b="0" dirty="0">
                <a:solidFill>
                  <a:srgbClr val="F5F7FA"/>
                </a:solidFill>
                <a:latin typeface="Arial"/>
              </a:rPr>
              <a:t>ם test loss ~0.19 </a:t>
            </a:r>
            <a:r>
              <a:rPr lang="he-IL" sz="1600" b="0" dirty="0">
                <a:solidFill>
                  <a:srgbClr val="F5F7FA"/>
                </a:solidFill>
                <a:latin typeface="Arial"/>
              </a:rPr>
              <a:t>. </a:t>
            </a:r>
            <a:endParaRPr sz="1600" b="0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9B4C8"/>
                </a:solidFill>
                <a:latin typeface="Arial"/>
              </a:rPr>
              <a:t>6 / 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30E8BC-8607-828E-FEC8-BF5D01337EE9}"/>
              </a:ext>
            </a:extLst>
          </p:cNvPr>
          <p:cNvSpPr txBox="1"/>
          <p:nvPr/>
        </p:nvSpPr>
        <p:spPr>
          <a:xfrm>
            <a:off x="8214055" y="2445148"/>
            <a:ext cx="3063240" cy="24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250" b="0" dirty="0">
                <a:solidFill>
                  <a:srgbClr val="A9B4C8"/>
                </a:solidFill>
                <a:latin typeface="Arial"/>
              </a:rPr>
              <a:t>ה – </a:t>
            </a:r>
            <a:r>
              <a:rPr lang="en-US" sz="1250" b="0" dirty="0">
                <a:solidFill>
                  <a:srgbClr val="A9B4C8"/>
                </a:solidFill>
                <a:latin typeface="Arial"/>
              </a:rPr>
              <a:t>JSON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מומר </a:t>
            </a:r>
            <a:r>
              <a:rPr lang="he-IL" sz="1250" b="0" dirty="0" err="1">
                <a:solidFill>
                  <a:srgbClr val="A9B4C8"/>
                </a:solidFill>
                <a:latin typeface="Arial"/>
              </a:rPr>
              <a:t>לטנזורים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 </a:t>
            </a:r>
            <a:r>
              <a:rPr lang="en-US" sz="1250" b="0" dirty="0">
                <a:solidFill>
                  <a:srgbClr val="A9B4C8"/>
                </a:solidFill>
                <a:latin typeface="Arial"/>
              </a:rPr>
              <a:t>X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(49) ו – </a:t>
            </a:r>
            <a:r>
              <a:rPr lang="en-US" sz="1250" b="0" dirty="0">
                <a:solidFill>
                  <a:srgbClr val="A9B4C8"/>
                </a:solidFill>
                <a:latin typeface="Arial"/>
              </a:rPr>
              <a:t>Y</a:t>
            </a:r>
            <a:r>
              <a:rPr lang="he-IL" sz="1250" b="0" dirty="0">
                <a:solidFill>
                  <a:srgbClr val="A9B4C8"/>
                </a:solidFill>
                <a:latin typeface="Arial"/>
              </a:rPr>
              <a:t>(1).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73E7AB-FC49-7D65-C89D-1420044B8752}"/>
              </a:ext>
            </a:extLst>
          </p:cNvPr>
          <p:cNvSpPr txBox="1"/>
          <p:nvPr/>
        </p:nvSpPr>
        <p:spPr>
          <a:xfrm>
            <a:off x="4529023" y="2440013"/>
            <a:ext cx="3063240" cy="24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en-US" sz="1250" dirty="0">
                <a:solidFill>
                  <a:srgbClr val="A9B4C8"/>
                </a:solidFill>
                <a:latin typeface="Arial"/>
              </a:rPr>
              <a:t>70% train / 30% test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, </a:t>
            </a:r>
            <a:r>
              <a:rPr lang="en-US" sz="1250" dirty="0">
                <a:solidFill>
                  <a:srgbClr val="A9B4C8"/>
                </a:solidFill>
                <a:latin typeface="Arial"/>
              </a:rPr>
              <a:t>seed</a:t>
            </a:r>
            <a:r>
              <a:rPr lang="he-IL" sz="1250" dirty="0">
                <a:solidFill>
                  <a:srgbClr val="A9B4C8"/>
                </a:solidFill>
                <a:latin typeface="Arial"/>
              </a:rPr>
              <a:t> קבוע של 42</a:t>
            </a:r>
            <a:endParaRPr sz="1250" b="0" dirty="0">
              <a:solidFill>
                <a:srgbClr val="A9B4C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50292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454335" cy="1051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D1B0"/>
                </a:solidFill>
                <a:latin typeface="Arial"/>
              </a:rPr>
              <a:t>הדבר המיוחד</a:t>
            </a: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מודל אחד המשחק בשני הצבעים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62895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9B4C8"/>
                </a:solidFill>
                <a:latin typeface="Arial"/>
              </a:rPr>
              <a:t>הבעיה: לאמן מודל נפרד לכל צבע הוא בזבוז. הפתרון מנצל ש-Hex הוא </a:t>
            </a:r>
            <a:r>
              <a:rPr sz="1600" b="1">
                <a:solidFill>
                  <a:srgbClr val="F5F7FA"/>
                </a:solidFill>
                <a:latin typeface="Arial"/>
              </a:rPr>
              <a:t>משחק סימטרי</a:t>
            </a:r>
            <a:r>
              <a:rPr sz="1600" b="0">
                <a:solidFill>
                  <a:srgbClr val="A9B4C8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59775" y="26060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4B8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59775" y="2880360"/>
            <a:ext cx="310896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ה-AI משחק ככחול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4C8"/>
                </a:solidFill>
                <a:latin typeface="Arial"/>
              </a:rPr>
              <a:t>לוח אמיתי כמו שהוא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2175" y="26060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5AD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2175" y="2807208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AD1B0"/>
                </a:solidFill>
                <a:latin typeface="Arial"/>
              </a:rPr>
              <a:t>make_red_perspective</a:t>
            </a:r>
          </a:p>
          <a:p>
            <a:pPr algn="ctr" rtl="1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AD1B0"/>
                </a:solidFill>
                <a:latin typeface="Arial"/>
              </a:rPr>
              <a:t>_and_normalize</a:t>
            </a:r>
          </a:p>
          <a:p>
            <a:pPr algn="ctr" rtl="1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A9B4C8"/>
                </a:solidFill>
                <a:latin typeface="Arial"/>
              </a:rPr>
              <a:t>מהפך כל לוח לפרספקטיבת אדום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108960" cy="5683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dirty="0" err="1">
                <a:solidFill>
                  <a:srgbClr val="F5F7FA"/>
                </a:solidFill>
                <a:latin typeface="Arial"/>
              </a:rPr>
              <a:t>המודל</a:t>
            </a:r>
            <a:r>
              <a:rPr sz="17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Arial"/>
              </a:rPr>
              <a:t>תמיד</a:t>
            </a:r>
            <a:r>
              <a:rPr sz="17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Arial"/>
              </a:rPr>
              <a:t>רואה</a:t>
            </a:r>
            <a:r>
              <a:rPr sz="17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Arial"/>
              </a:rPr>
              <a:t>אדום</a:t>
            </a:r>
            <a:endParaRPr sz="1700" b="1" dirty="0">
              <a:solidFill>
                <a:srgbClr val="F5F7FA"/>
              </a:solidFill>
              <a:latin typeface="Arial"/>
            </a:endParaRP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A9B4C8"/>
                </a:solidFill>
                <a:latin typeface="Arial"/>
              </a:rPr>
              <a:t>מעריך</a:t>
            </a:r>
            <a:r>
              <a:rPr sz="1300" b="0" dirty="0">
                <a:solidFill>
                  <a:srgbClr val="A9B4C8"/>
                </a:solidFill>
                <a:latin typeface="Arial"/>
              </a:rPr>
              <a:t>, ו-BLUE </a:t>
            </a:r>
            <a:r>
              <a:rPr sz="1300" b="0" dirty="0" err="1">
                <a:solidFill>
                  <a:srgbClr val="A9B4C8"/>
                </a:solidFill>
                <a:latin typeface="Arial"/>
              </a:rPr>
              <a:t>מהפך</a:t>
            </a:r>
            <a:r>
              <a:rPr sz="1300" b="0" dirty="0">
                <a:solidFill>
                  <a:srgbClr val="A9B4C8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A9B4C8"/>
                </a:solidFill>
                <a:latin typeface="Arial"/>
              </a:rPr>
              <a:t>את</a:t>
            </a:r>
            <a:r>
              <a:rPr sz="1300" b="0" dirty="0">
                <a:solidFill>
                  <a:srgbClr val="A9B4C8"/>
                </a:solidFill>
                <a:latin typeface="Arial"/>
              </a:rPr>
              <a:t> ה-score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5727" y="3063240"/>
            <a:ext cx="38404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A9B4C8"/>
                </a:solidFill>
                <a:latin typeface="Arial"/>
              </a:rPr>
              <a:t>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3063240"/>
            <a:ext cx="38404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A9B4C8"/>
                </a:solidFill>
                <a:latin typeface="Arial"/>
              </a:rPr>
              <a:t>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10454335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600" b="1" dirty="0" err="1">
                <a:solidFill>
                  <a:srgbClr val="F5F7FA"/>
                </a:solidFill>
                <a:latin typeface="Arial"/>
              </a:rPr>
              <a:t>נורמליזציה</a:t>
            </a:r>
            <a:r>
              <a:rPr lang="he-IL" sz="1600" b="1" dirty="0">
                <a:solidFill>
                  <a:srgbClr val="F5F7FA"/>
                </a:solidFill>
                <a:latin typeface="Arial"/>
              </a:rPr>
              <a:t>: </a:t>
            </a:r>
            <a:r>
              <a:rPr lang="he-IL" sz="1600" b="1" dirty="0">
                <a:solidFill>
                  <a:srgbClr val="A9B4C8"/>
                </a:solidFill>
                <a:latin typeface="Arial"/>
              </a:rPr>
              <a:t>1+ שלי, 1- יריב, 0 רק</a:t>
            </a:r>
            <a:endParaRPr lang="he-IL" sz="1600" b="0" dirty="0">
              <a:solidFill>
                <a:srgbClr val="A9B4C8"/>
              </a:solidFill>
              <a:latin typeface="Arial"/>
            </a:endParaRPr>
          </a:p>
          <a:p>
            <a:pPr algn="r" rtl="1">
              <a:spcAft>
                <a:spcPts val="1100"/>
              </a:spcAft>
            </a:pPr>
            <a:r>
              <a:rPr lang="he-IL"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lang="he-IL" sz="1600" dirty="0">
                <a:solidFill>
                  <a:srgbClr val="F5F7FA"/>
                </a:solidFill>
                <a:latin typeface="Arial"/>
              </a:rPr>
              <a:t>כשהמודל משחק ככחול, צבעי האבנים מתהפכים לפני ההערכה, וה-</a:t>
            </a:r>
            <a:r>
              <a:rPr lang="en-US" sz="1600" dirty="0">
                <a:solidFill>
                  <a:srgbClr val="F5F7FA"/>
                </a:solidFill>
                <a:latin typeface="Arial"/>
              </a:rPr>
              <a:t>score </a:t>
            </a:r>
            <a:r>
              <a:rPr lang="he-IL" sz="1600" dirty="0">
                <a:solidFill>
                  <a:srgbClr val="F5F7FA"/>
                </a:solidFill>
                <a:latin typeface="Arial"/>
              </a:rPr>
              <a:t>מוכפל ב-1-</a:t>
            </a:r>
          </a:p>
          <a:p>
            <a:pPr algn="r" rtl="1">
              <a:spcAft>
                <a:spcPts val="1100"/>
              </a:spcAft>
            </a:pPr>
            <a:r>
              <a:rPr sz="16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תוצאה</a:t>
            </a:r>
            <a:r>
              <a:rPr sz="1600" dirty="0">
                <a:solidFill>
                  <a:srgbClr val="F5F7FA"/>
                </a:solidFill>
                <a:latin typeface="Arial"/>
              </a:rPr>
              <a:t>: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מאגר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אימון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אחד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ומודל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אחד</a:t>
            </a:r>
            <a:r>
              <a:rPr sz="1600" dirty="0">
                <a:solidFill>
                  <a:srgbClr val="F5F7FA"/>
                </a:solidFill>
                <a:latin typeface="Arial"/>
              </a:rPr>
              <a:t> -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חצי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מהנתונים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וחצי</a:t>
            </a:r>
            <a:r>
              <a:rPr sz="1600" dirty="0">
                <a:solidFill>
                  <a:srgbClr val="F5F7F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5F7FA"/>
                </a:solidFill>
                <a:latin typeface="Arial"/>
              </a:rPr>
              <a:t>מהמורכבות</a:t>
            </a:r>
            <a:endParaRPr sz="1600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9B4C8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688775" y="1463040"/>
            <a:ext cx="109728" cy="914400"/>
          </a:xfrm>
          <a:prstGeom prst="roundRect">
            <a:avLst>
              <a:gd name="adj" fmla="val 6000"/>
            </a:avLst>
          </a:prstGeom>
          <a:solidFill>
            <a:srgbClr val="5AD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454335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D1B0"/>
                </a:solidFill>
                <a:latin typeface="Arial"/>
              </a:rPr>
              <a:t>סיכום</a:t>
            </a:r>
          </a:p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מה בנינו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54335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מנוע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משחק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Hex 7x7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מלא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עם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זיהוי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ניצחון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אוטומטי</a:t>
            </a:r>
            <a:endParaRPr sz="180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3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איסוף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נתונים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שייצר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מילון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של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מיליון</a:t>
            </a:r>
            <a:r>
              <a:rPr sz="1800" dirty="0">
                <a:solidFill>
                  <a:srgbClr val="F5F7FA"/>
                </a:solidFill>
                <a:latin typeface="Arial"/>
              </a:rPr>
              <a:t>+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מצבי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לוח</a:t>
            </a:r>
            <a:endParaRPr sz="180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3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רשת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HexNet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מאומנת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המעריכה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מצבי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לוח</a:t>
            </a:r>
            <a:r>
              <a:rPr sz="1800" dirty="0">
                <a:solidFill>
                  <a:srgbClr val="F5F7FA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וסוכן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NeuralAI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המשחק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בזמן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אמת</a:t>
            </a:r>
            <a:endParaRPr sz="180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3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טריק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הסימטריה</a:t>
            </a:r>
            <a:r>
              <a:rPr sz="1800" dirty="0">
                <a:solidFill>
                  <a:srgbClr val="F5F7FA"/>
                </a:solidFill>
                <a:latin typeface="Arial"/>
              </a:rPr>
              <a:t>: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מודל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אחד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שמשחק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בשני</a:t>
            </a:r>
            <a:r>
              <a:rPr sz="1800" dirty="0">
                <a:solidFill>
                  <a:srgbClr val="F5F7FA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הצבעים</a:t>
            </a:r>
            <a:endParaRPr sz="1800" dirty="0">
              <a:solidFill>
                <a:srgbClr val="F5F7FA"/>
              </a:solidFill>
              <a:latin typeface="Arial"/>
            </a:endParaRPr>
          </a:p>
          <a:p>
            <a:pPr algn="r" rtl="1">
              <a:spcAft>
                <a:spcPts val="1300"/>
              </a:spcAft>
            </a:pPr>
            <a:r>
              <a:rPr sz="1800" dirty="0">
                <a:solidFill>
                  <a:srgbClr val="5AD1B0"/>
                </a:solidFill>
                <a:latin typeface="Arial"/>
              </a:rPr>
              <a:t>▸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ממשק</a:t>
            </a:r>
            <a:r>
              <a:rPr sz="1800" dirty="0">
                <a:solidFill>
                  <a:srgbClr val="F5F7FA"/>
                </a:solidFill>
                <a:latin typeface="Arial"/>
              </a:rPr>
              <a:t> PySide6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בארכיטקטורת</a:t>
            </a:r>
            <a:r>
              <a:rPr sz="1800" dirty="0">
                <a:solidFill>
                  <a:srgbClr val="F5F7FA"/>
                </a:solidFill>
                <a:latin typeface="Arial"/>
              </a:rPr>
              <a:t> MVC </a:t>
            </a:r>
            <a:r>
              <a:rPr sz="1800" dirty="0" err="1">
                <a:solidFill>
                  <a:srgbClr val="F5F7FA"/>
                </a:solidFill>
                <a:latin typeface="Arial"/>
              </a:rPr>
              <a:t>מלאה</a:t>
            </a:r>
            <a:endParaRPr sz="1800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8680" y="5440680"/>
            <a:ext cx="10454335" cy="914400"/>
          </a:xfrm>
          <a:prstGeom prst="roundRect">
            <a:avLst>
              <a:gd name="adj" fmla="val 6000"/>
            </a:avLst>
          </a:prstGeom>
          <a:solidFill>
            <a:srgbClr val="1E2944"/>
          </a:solidFill>
          <a:ln w="19050">
            <a:solidFill>
              <a:srgbClr val="5AD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700903"/>
            <a:ext cx="10454335" cy="39395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2200" b="1" dirty="0" err="1">
                <a:solidFill>
                  <a:srgbClr val="F5F7FA"/>
                </a:solidFill>
                <a:latin typeface="Arial"/>
              </a:rPr>
              <a:t>תודה</a:t>
            </a:r>
            <a:r>
              <a:rPr lang="he-IL" sz="2200" b="1" dirty="0">
                <a:solidFill>
                  <a:srgbClr val="F5F7FA"/>
                </a:solidFill>
                <a:latin typeface="Arial"/>
              </a:rPr>
              <a:t> על ההקשבה.</a:t>
            </a:r>
            <a:endParaRPr sz="22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6355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9B4C8"/>
                </a:solidFill>
                <a:latin typeface="Arial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693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ליאור קוזנץ</cp:lastModifiedBy>
  <cp:revision>2</cp:revision>
  <dcterms:created xsi:type="dcterms:W3CDTF">2013-01-27T09:14:16Z</dcterms:created>
  <dcterms:modified xsi:type="dcterms:W3CDTF">2026-06-04T10:13:39Z</dcterms:modified>
  <cp:category/>
</cp:coreProperties>
</file>